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Default Extension="xlsx" ContentType="application/vnd.openxmlformats-officedocument.spreadsheetml.sheet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-533" y="-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sk-SK"/>
  <c:roundedCorners val="1"/>
  <c:chart>
    <c:autoTitleDeleted val="1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Dataset</c:v>
                </c:pt>
              </c:strCache>
            </c:strRef>
          </c:tx>
          <c:spPr>
            <a:solidFill>
              <a:srgbClr val="2563EB"/>
            </a:solidFill>
            <a:effectLst/>
          </c:spPr>
          <c:dLbls>
            <c:numFmt formatCode="#,##0" sourceLinked="0"/>
            <c:txPr>
              <a:bodyPr/>
              <a:lstStyle/>
              <a:p>
                <a:pPr>
                  <a:defRPr sz="800" b="0" i="0" u="none" strike="noStrike">
                    <a:solidFill>
                      <a:srgbClr val="374151"/>
                    </a:solidFill>
                    <a:latin typeface="Arial"/>
                  </a:defRPr>
                </a:pPr>
                <a:endParaRPr lang="sk-SK"/>
              </a:p>
            </c:txPr>
            <c:showVal val="1"/>
          </c:dLbls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F1</c:v>
                </c:pt>
                <c:pt idx="2">
                  <c:v>Precision</c:v>
                </c:pt>
                <c:pt idx="3">
                  <c:v>Recall</c:v>
                </c:pt>
                <c:pt idx="4">
                  <c:v>ROC-AUC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0.98849999999999993</c:v>
                </c:pt>
                <c:pt idx="1">
                  <c:v>0.98470000000000002</c:v>
                </c:pt>
                <c:pt idx="2">
                  <c:v>0.98070000000000002</c:v>
                </c:pt>
                <c:pt idx="3">
                  <c:v>0.98870000000000002</c:v>
                </c:pt>
                <c:pt idx="4">
                  <c:v>0.999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New Dataset</c:v>
                </c:pt>
              </c:strCache>
            </c:strRef>
          </c:tx>
          <c:spPr>
            <a:solidFill>
              <a:srgbClr val="BFDBFE"/>
            </a:solidFill>
            <a:effectLst/>
          </c:spPr>
          <c:dLbls>
            <c:numFmt formatCode="#,##0" sourceLinked="0"/>
            <c:txPr>
              <a:bodyPr/>
              <a:lstStyle/>
              <a:p>
                <a:pPr>
                  <a:defRPr sz="800" b="0" i="0" u="none" strike="noStrike">
                    <a:solidFill>
                      <a:srgbClr val="374151"/>
                    </a:solidFill>
                    <a:latin typeface="Arial"/>
                  </a:defRPr>
                </a:pPr>
                <a:endParaRPr lang="sk-SK"/>
              </a:p>
            </c:txPr>
            <c:showVal val="1"/>
          </c:dLbls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F1</c:v>
                </c:pt>
                <c:pt idx="2">
                  <c:v>Precision</c:v>
                </c:pt>
                <c:pt idx="3">
                  <c:v>Recall</c:v>
                </c:pt>
                <c:pt idx="4">
                  <c:v>ROC-AUC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0.7400000000000001</c:v>
                </c:pt>
                <c:pt idx="1">
                  <c:v>0.72000000000000008</c:v>
                </c:pt>
                <c:pt idx="2">
                  <c:v>0.68000000000000016</c:v>
                </c:pt>
                <c:pt idx="3">
                  <c:v>0.77</c:v>
                </c:pt>
                <c:pt idx="4">
                  <c:v>0.93</c:v>
                </c:pt>
              </c:numCache>
            </c:numRef>
          </c:val>
        </c:ser>
        <c:dLbls>
          <c:showVal val="1"/>
        </c:dLbls>
        <c:axId val="113128576"/>
        <c:axId val="113130112"/>
      </c:barChart>
      <c:catAx>
        <c:axId val="113128576"/>
        <c:scaling>
          <c:orientation val="minMax"/>
        </c:scaling>
        <c:axPos val="b"/>
        <c:numFmt formatCode="General" sourceLinked="1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sk-SK"/>
          </a:p>
        </c:txPr>
        <c:crossAx val="113130112"/>
        <c:crosses val="autoZero"/>
        <c:auto val="1"/>
        <c:lblAlgn val="ctr"/>
        <c:lblOffset val="100"/>
        <c:noMultiLvlLbl val="1"/>
      </c:catAx>
      <c:valAx>
        <c:axId val="113130112"/>
        <c:scaling>
          <c:orientation val="minMax"/>
          <c:max val="1"/>
          <c:min val="0"/>
        </c:scaling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sk-SK"/>
          </a:p>
        </c:txPr>
        <c:crossAx val="113128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txPr>
        <a:bodyPr/>
        <a:lstStyle/>
        <a:p>
          <a:pPr>
            <a:defRPr sz="1000"/>
          </a:pPr>
          <a:endParaRPr lang="sk-SK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sk-SK"/>
  <c:roundedCorners val="1"/>
  <c:chart>
    <c:autoTitleDeleted val="1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Dataset</c:v>
                </c:pt>
              </c:strCache>
            </c:strRef>
          </c:tx>
          <c:spPr>
            <a:solidFill>
              <a:srgbClr val="0891B2"/>
            </a:solidFill>
            <a:effectLst/>
          </c:spPr>
          <c:dLbls>
            <c:numFmt formatCode="#,##0" sourceLinked="0"/>
            <c:txPr>
              <a:bodyPr/>
              <a:lstStyle/>
              <a:p>
                <a:pPr>
                  <a:defRPr sz="800" b="0" i="0" u="none" strike="noStrike">
                    <a:solidFill>
                      <a:srgbClr val="374151"/>
                    </a:solidFill>
                    <a:latin typeface="Arial"/>
                  </a:defRPr>
                </a:pPr>
                <a:endParaRPr lang="sk-SK"/>
              </a:p>
            </c:txPr>
            <c:showVal val="1"/>
          </c:dLbls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F1</c:v>
                </c:pt>
                <c:pt idx="2">
                  <c:v>Precision</c:v>
                </c:pt>
                <c:pt idx="3">
                  <c:v>Recall</c:v>
                </c:pt>
                <c:pt idx="4">
                  <c:v>ROC-AUC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0.99080000000000001</c:v>
                </c:pt>
                <c:pt idx="1">
                  <c:v>0.99490000000000001</c:v>
                </c:pt>
                <c:pt idx="2">
                  <c:v>0.98699999999999999</c:v>
                </c:pt>
                <c:pt idx="3">
                  <c:v>0.99309999999999998</c:v>
                </c:pt>
                <c:pt idx="4">
                  <c:v>0.99990000000000001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New Dataset</c:v>
                </c:pt>
              </c:strCache>
            </c:strRef>
          </c:tx>
          <c:spPr>
            <a:solidFill>
              <a:srgbClr val="CFFAFE"/>
            </a:solidFill>
            <a:effectLst/>
          </c:spPr>
          <c:dLbls>
            <c:numFmt formatCode="#,##0" sourceLinked="0"/>
            <c:txPr>
              <a:bodyPr/>
              <a:lstStyle/>
              <a:p>
                <a:pPr>
                  <a:defRPr sz="800" b="0" i="0" u="none" strike="noStrike">
                    <a:solidFill>
                      <a:srgbClr val="374151"/>
                    </a:solidFill>
                    <a:latin typeface="Arial"/>
                  </a:defRPr>
                </a:pPr>
                <a:endParaRPr lang="sk-SK"/>
              </a:p>
            </c:txPr>
            <c:showVal val="1"/>
          </c:dLbls>
          <c:cat>
            <c:strRef>
              <c:f>Sheet1!$A$2:$A$6</c:f>
              <c:strCache>
                <c:ptCount val="5"/>
                <c:pt idx="0">
                  <c:v>Accuracy</c:v>
                </c:pt>
                <c:pt idx="1">
                  <c:v>F1</c:v>
                </c:pt>
                <c:pt idx="2">
                  <c:v>Precision</c:v>
                </c:pt>
                <c:pt idx="3">
                  <c:v>Recall</c:v>
                </c:pt>
                <c:pt idx="4">
                  <c:v>ROC-AUC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0.71</c:v>
                </c:pt>
                <c:pt idx="1">
                  <c:v>0.7</c:v>
                </c:pt>
                <c:pt idx="2">
                  <c:v>0.52</c:v>
                </c:pt>
                <c:pt idx="3">
                  <c:v>0.99</c:v>
                </c:pt>
                <c:pt idx="4">
                  <c:v>0.94</c:v>
                </c:pt>
              </c:numCache>
            </c:numRef>
          </c:val>
        </c:ser>
        <c:dLbls>
          <c:showVal val="1"/>
        </c:dLbls>
        <c:axId val="114003328"/>
        <c:axId val="114005120"/>
      </c:barChart>
      <c:catAx>
        <c:axId val="114003328"/>
        <c:scaling>
          <c:orientation val="minMax"/>
        </c:scaling>
        <c:axPos val="b"/>
        <c:numFmt formatCode="General" sourceLinked="1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sk-SK"/>
          </a:p>
        </c:txPr>
        <c:crossAx val="114005120"/>
        <c:crosses val="autoZero"/>
        <c:auto val="1"/>
        <c:lblAlgn val="ctr"/>
        <c:lblOffset val="100"/>
        <c:noMultiLvlLbl val="1"/>
      </c:catAx>
      <c:valAx>
        <c:axId val="114005120"/>
        <c:scaling>
          <c:orientation val="minMax"/>
          <c:max val="1"/>
          <c:min val="0"/>
        </c:scaling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sk-SK"/>
          </a:p>
        </c:txPr>
        <c:crossAx val="114003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txPr>
        <a:bodyPr/>
        <a:lstStyle/>
        <a:p>
          <a:pPr>
            <a:defRPr sz="1000"/>
          </a:pPr>
          <a:endParaRPr lang="sk-SK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/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0" y="-274320"/>
            <a:ext cx="4114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54864" cy="2011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DETECTION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BERT-base-uncased  vs  CySecBERT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794760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794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1000" dirty="0" smtClean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Marek </a:t>
            </a:r>
            <a:r>
              <a:rPr lang="sk-SK" sz="1000" dirty="0" err="1" smtClean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Homiak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11680" y="3794760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0" y="3794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1000" dirty="0" smtClean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Hugo Juraj </a:t>
            </a:r>
            <a:r>
              <a:rPr lang="sk-SK" sz="1000" dirty="0" err="1" smtClean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Bulinský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3794760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3794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1000" dirty="0" smtClean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Marko Olejník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3794760"/>
            <a:ext cx="1143000" cy="274320"/>
          </a:xfrm>
          <a:prstGeom prst="roundRect">
            <a:avLst>
              <a:gd name="adj" fmla="val 13333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37947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1000" dirty="0" smtClean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Polák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51560"/>
            <a:ext cx="2697480" cy="356616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51560"/>
            <a:ext cx="269748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920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Goal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156346"/>
            <a:ext cx="2331720" cy="1575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phishing emails using fine-tuned transformer models and compare a general-purpose model (BERT) against a cybersecurity-specialized one (CySecBERT)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051560"/>
            <a:ext cx="2697480" cy="356616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051560"/>
            <a:ext cx="2697480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920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0" y="1835624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both models on the same dataset, evaluate with 5 metrics, then test generalization on a completely different real-world email dataset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1115568"/>
            <a:ext cx="2697480" cy="356616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0" y="1051560"/>
            <a:ext cx="269748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1920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1712794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domain-specific pre-training on cybersecurity text give CySecBERT a meaningful advantage over the general BERT baseline?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Datasets — Two Tests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51560"/>
            <a:ext cx="3931920" cy="374904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51560"/>
            <a:ext cx="393192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70432"/>
            <a:ext cx="1664208" cy="256032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7043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DATASET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zefang-liu / phishing-email-dataset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Hub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35661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3317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18,650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11680" y="23591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emails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816352"/>
            <a:ext cx="35661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86207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11,338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011680" y="28895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(60.8%)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346704"/>
            <a:ext cx="35661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9242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7,312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011680" y="341985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(39.2%)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877056"/>
            <a:ext cx="35661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92277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sk-SK" sz="14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4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/1</a:t>
            </a:r>
            <a:r>
              <a:rPr lang="sk-SK" sz="14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4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/15</a:t>
            </a: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011680" y="39502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 / test split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434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online phishing samples +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corporate emails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34840" y="2926080"/>
            <a:ext cx="4572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280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846320" y="1051560"/>
            <a:ext cx="3931920" cy="374904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46320" y="1051560"/>
            <a:ext cx="393192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0" y="1170432"/>
            <a:ext cx="1924812" cy="256032"/>
          </a:xfrm>
          <a:prstGeom prst="roundRect">
            <a:avLst>
              <a:gd name="adj" fmla="val 14286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0" y="1170432"/>
            <a:ext cx="19248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TEST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0" y="1508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phishing_email.csv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29200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CEAS 2008 + Enron corpus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0" y="2286000"/>
            <a:ext cx="35661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0" y="23317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80,106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92240" y="23591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emails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029200" y="2816352"/>
            <a:ext cx="35661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0" y="286207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57,767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492240" y="28895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(72.1%)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029200" y="3346704"/>
            <a:ext cx="35661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0" y="339242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22,339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492240" y="341985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(27.9%)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029200" y="3877056"/>
            <a:ext cx="356616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29200" y="392277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24,032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492240" y="39502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size (30%)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0" y="4434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Enron-style corporate emails —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different writing style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Original Dataset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225796" cy="256032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52257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zefang-liu / phishing-email-dataset  ·  2,619 test emails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7406640" cy="457200"/>
          </a:xfrm>
          <a:prstGeom prst="rect">
            <a:avLst/>
          </a:prstGeom>
          <a:solidFill>
            <a:srgbClr val="11182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53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0" y="1353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BERT-base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80560" y="1353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CySecBERT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92240" y="13533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740664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8105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18105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sk-SK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7.98</a:t>
            </a: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18105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sk-SK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8.74</a:t>
            </a:r>
            <a:r>
              <a:rPr lang="en-US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18105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300" b="1" dirty="0" smtClean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</a:t>
            </a:r>
            <a:r>
              <a:rPr lang="sk-SK" sz="1300" b="1" dirty="0" smtClean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r>
              <a:rPr lang="en-US" sz="1300" b="1" dirty="0" smtClean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194560"/>
            <a:ext cx="7406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2677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468880" y="22677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k-SK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97.3</a:t>
            </a: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0" y="22677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sk-SK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8.32</a:t>
            </a:r>
            <a:r>
              <a:rPr lang="en-US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2240" y="22677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+1.02pp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2651760"/>
            <a:ext cx="740664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7249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468880" y="27249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sk-SK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7.25</a:t>
            </a: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80560" y="27249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</a:t>
            </a:r>
            <a:r>
              <a:rPr lang="sk-SK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r>
              <a:rPr lang="en-US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92240" y="27249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smtClean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sk-SK" sz="1300" b="1" dirty="0" smtClean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</a:t>
            </a:r>
            <a:r>
              <a:rPr lang="en-US" sz="1300" b="1" dirty="0" smtClean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3108960"/>
            <a:ext cx="7406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1821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468880" y="31821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sk-SK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7.35</a:t>
            </a: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80560" y="31821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sk-SK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8.37</a:t>
            </a:r>
            <a:r>
              <a:rPr lang="en-US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92240" y="31821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smtClean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sk-SK" sz="1300" b="1" dirty="0" smtClean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</a:t>
            </a:r>
            <a:r>
              <a:rPr lang="en-US" sz="1300" b="1" dirty="0" smtClean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3566160"/>
            <a:ext cx="740664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639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468880" y="3639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</a:t>
            </a:r>
            <a:r>
              <a:rPr lang="sk-SK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480560" y="3639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</a:t>
            </a:r>
            <a:r>
              <a:rPr lang="sk-SK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r>
              <a:rPr lang="en-US" sz="1300" b="1" dirty="0" smtClean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92240" y="36393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+0.09pp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4160520"/>
            <a:ext cx="740664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25196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CySecBERT wins on all 5 metrics. Both models perform exceptionally well — this dataset is relatively easy to classify due to lexically distinct phishing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Generalization Test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6441948" cy="256032"/>
          </a:xfrm>
          <a:prstGeom prst="roundRect">
            <a:avLst>
              <a:gd name="adj" fmla="val 14286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64419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phishing_email.csv  ·  24,032 test emails  ·  zero-shot (no retraining)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7406640" cy="457200"/>
          </a:xfrm>
          <a:prstGeom prst="rect">
            <a:avLst/>
          </a:prstGeom>
          <a:solidFill>
            <a:srgbClr val="11182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53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0" y="1353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BERT-base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80560" y="1353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CySecBERT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92240" y="13533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740664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8105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18105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sk-SK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18105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r>
              <a:rPr lang="en-US" sz="1300" b="1" dirty="0" smtClean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sk-SK" sz="1300" b="1" dirty="0" smtClean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b="1" dirty="0" smtClean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18105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↑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194560"/>
            <a:ext cx="7406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2677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468880" y="22677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r>
              <a:rPr lang="sk-SK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0" y="22677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r>
              <a:rPr lang="en-US" sz="1300" b="1" dirty="0" smtClean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sk-SK" sz="1300" b="1" dirty="0" smtClean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en-US" sz="1300" b="1" dirty="0" smtClean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2240" y="22677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↑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2651760"/>
            <a:ext cx="740664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7249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468880" y="27249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r>
              <a:rPr lang="sk-SK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80560" y="27249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smtClean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r>
              <a:rPr lang="sk-SK" sz="1300" b="1" dirty="0" smtClean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r>
              <a:rPr lang="en-US" sz="1300" b="1" dirty="0" smtClean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92240" y="27249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↑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3108960"/>
            <a:ext cx="7406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1821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468880" y="31821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r>
              <a:rPr lang="sk-SK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r>
              <a:rPr lang="en-US" sz="1300" dirty="0" smtClean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480560" y="31821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~99%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92240" y="31821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CySec ↑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3566160"/>
            <a:ext cx="740664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639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468880" y="3639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~0.93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480560" y="363931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~0.94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92240" y="363931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CySec ↑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4160520"/>
            <a:ext cx="7406640" cy="68580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25196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Significant accuracy drop for both models. CySecBERT shows extreme recall (99%) but terrible precision — it flags almost everything as phishing. BERT is more balanced.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Cross-Dataset Performance Drop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601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BERT-base-uncased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1234440"/>
          <a:ext cx="420624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9601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CySecBERT</a:t>
            </a:r>
            <a:endParaRPr lang="en-US" sz="1300" dirty="0"/>
          </a:p>
        </p:txBody>
      </p:sp>
      <p:graphicFrame>
        <p:nvGraphicFramePr>
          <p:cNvPr id="7" name="Chart 1"/>
          <p:cNvGraphicFramePr/>
          <p:nvPr/>
        </p:nvGraphicFramePr>
        <p:xfrm>
          <a:off x="4663440" y="1234440"/>
          <a:ext cx="420624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Performance Drop?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51560"/>
            <a:ext cx="4114800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51560"/>
            <a:ext cx="64008" cy="1737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34440"/>
            <a:ext cx="45720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234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Distribution Shift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16002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data: mixed online phishing samples. Test data: Enron corporate emails (2002–2004). Very different writing styles, vocabulary, and email 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4114800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051560"/>
            <a:ext cx="64008" cy="1737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0" y="1234440"/>
            <a:ext cx="457200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🔤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234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Lexical Overfitting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32120" y="16002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learned surface-level phishing keywords (click, verify, urgent, win). Corporate emails sometimes use similar financial or action-oriented language.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971800"/>
            <a:ext cx="4114800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297180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⚖️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43000" y="31546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Class Imbalance Shift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35204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60/40 (safe/phishing). New dataset: 72/28. Models calibrated for 40% phishing rate now see fewer real phishing emails, affecting threshold calibration.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971800"/>
            <a:ext cx="4114800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2971800"/>
            <a:ext cx="64008" cy="17373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37760" y="3154680"/>
            <a:ext cx="457200" cy="457200"/>
          </a:xfrm>
          <a:prstGeom prst="rect">
            <a:avLst/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🚨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32120" y="315468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CySecBERT Overconfidence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32120" y="35204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CySecBERT was pre-trained on security text. It over-applies security domain patterns to non-security corporate emails, causing 6,391 false positives.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&amp; Weaknesses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77440" y="1005840"/>
            <a:ext cx="310896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377440" y="10058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BERT-base-uncased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0" y="1005840"/>
            <a:ext cx="310896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0" y="10058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CySecBERT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444752"/>
            <a:ext cx="8412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5544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knowledge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1655064"/>
            <a:ext cx="182880" cy="1828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0" y="155448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English understanding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1655064"/>
            <a:ext cx="182880" cy="182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155448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terminology pre-trained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103120"/>
            <a:ext cx="8412480" cy="621792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2128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dataset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468880" y="2313432"/>
            <a:ext cx="182880" cy="182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221284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98.85% accuracy — strong baseline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2313432"/>
            <a:ext cx="182880" cy="182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221284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99.08% accuracy — slightly better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761488"/>
            <a:ext cx="8412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87121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468880" y="2971800"/>
            <a:ext cx="182880" cy="182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287121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balanced on new data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971800"/>
            <a:ext cx="182880" cy="1828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35040" y="287121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recall, poor precision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3419856"/>
            <a:ext cx="8412480" cy="621792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5295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468880" y="3630168"/>
            <a:ext cx="182880" cy="182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352958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FP on unseen data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760720" y="3630168"/>
            <a:ext cx="182880" cy="1828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35040" y="352958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6,391 FP at default threshold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78224"/>
            <a:ext cx="8412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418795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tuning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468880" y="4288536"/>
            <a:ext cx="182880" cy="182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418795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sensitive to threshold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760720" y="4288536"/>
            <a:ext cx="182880" cy="1828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35040" y="418795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threshold 0.9991 — unusual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Tuning — CySecBERT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4357116" cy="256032"/>
          </a:xfrm>
          <a:prstGeom prst="roundRect">
            <a:avLst>
              <a:gd name="adj" fmla="val 14286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43571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on new dataset  ·  Youden's J Statistic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4023360" cy="7772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533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Threshold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834640" y="130759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4023360" cy="777240"/>
          </a:xfrm>
          <a:prstGeom prst="rect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3533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Threshold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0" y="130759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65760" y="2240280"/>
            <a:ext cx="7589520" cy="384048"/>
          </a:xfrm>
          <a:prstGeom prst="rect">
            <a:avLst/>
          </a:prstGeom>
          <a:solidFill>
            <a:srgbClr val="334155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0" y="2286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(0.50)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2286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(0.9991)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22860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624328"/>
            <a:ext cx="7589520" cy="384048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7004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0" y="26700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~71%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26700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~82%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267004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+11pp ↑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3008376"/>
            <a:ext cx="75895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0540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0" y="30540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~52%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30540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~78%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305409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+26pp ↑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92424"/>
            <a:ext cx="7589520" cy="384048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4381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743200" y="343814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~99%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0" y="343814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~68%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0" y="343814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-31pp ↓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3776472"/>
            <a:ext cx="75895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82219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43200" y="3822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~70%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0" y="3822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~73%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00800" y="3822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+3pp ↑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160520"/>
            <a:ext cx="7589520" cy="384048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206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743200" y="42062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6,391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0" y="42062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~1,900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00800" y="420624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-70% ↓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544568"/>
            <a:ext cx="75895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5902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2743200" y="4590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590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~1,600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400800" y="45902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+5000% ↑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65760" y="48920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Lower recall means more missed phishing — acceptable only in low-risk contexts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— Where Models Fail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023360" cy="379476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097280"/>
            <a:ext cx="3314700" cy="256032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33147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 —  Safe → Phishing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that LOOK like phishing but aren't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657600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202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language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148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"Your account balance has changed"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532888"/>
            <a:ext cx="3657600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5786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tone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28072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"Please respond by end of day"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191256"/>
            <a:ext cx="3657600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2369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Link-heavy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34655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newsletters with multiple URLs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849624"/>
            <a:ext cx="3657600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89534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mentions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12394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system updates referencing login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005840"/>
            <a:ext cx="4023360" cy="379476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37760" y="1097280"/>
            <a:ext cx="3314700" cy="256032"/>
          </a:xfrm>
          <a:prstGeom prst="roundRect">
            <a:avLst>
              <a:gd name="adj" fmla="val 14286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1097280"/>
            <a:ext cx="33147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NEGATIVES  —  Phishing → Safe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emails that EVADE detection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1874520"/>
            <a:ext cx="3657600" cy="566928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4920" y="19202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trigger words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74920" y="2148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Sophisticated phishing without "click" or "verify"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37760" y="2532888"/>
            <a:ext cx="3657600" cy="566928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4920" y="25786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Context-dependent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74920" y="280720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engineering — relies on context, not keywords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937760" y="3191256"/>
            <a:ext cx="3657600" cy="566928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4920" y="32369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74920" y="34655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emails lacking enough signal for classification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37760" y="3849624"/>
            <a:ext cx="3657600" cy="566928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389534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tone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74920" y="412394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mimicking legitimate business communication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 Explainability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7397496" cy="256032"/>
          </a:xfrm>
          <a:prstGeom prst="roundRect">
            <a:avLst>
              <a:gd name="adj" fmla="val 1428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7397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Interpretable Model-agnostic Explanations  ·  10 FP + 10 FN samples analyzed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8412480" cy="685800"/>
          </a:xfrm>
          <a:prstGeom prst="rect">
            <a:avLst/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 perturbs the input text and observes how predictions change → identifies which words/phrases push the model toward Phishing (positive weight) or Safe (negative weight)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Negatives — words that confused the model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514600"/>
            <a:ext cx="402336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514600"/>
            <a:ext cx="100584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5420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08760" y="25877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name → pushed toward Safe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044952"/>
            <a:ext cx="402336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044952"/>
            <a:ext cx="100584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0723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508760" y="311810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→ reduced phishing signal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575304"/>
            <a:ext cx="402336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575304"/>
            <a:ext cx="100584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602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08760" y="36484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header word → neutral signal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105656"/>
            <a:ext cx="402336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105656"/>
            <a:ext cx="100584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41330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08760" y="41788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closing → Safe signal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54880" y="2148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— words that triggered phishing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54880" y="2514600"/>
            <a:ext cx="402336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2514600"/>
            <a:ext cx="100584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25420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5877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context → high phishing weight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3044952"/>
            <a:ext cx="402336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54880" y="3044952"/>
            <a:ext cx="100584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0723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897880" y="311810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phishing trigger word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0" y="3575304"/>
            <a:ext cx="402336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3575304"/>
            <a:ext cx="100584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3602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897880" y="36484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→ strong phishing signal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0" y="4105656"/>
            <a:ext cx="4023360" cy="457200"/>
          </a:xfrm>
          <a:prstGeom prst="rect">
            <a:avLst/>
          </a:prstGeom>
          <a:solidFill>
            <a:srgbClr val="F4F6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54880" y="4105656"/>
            <a:ext cx="100584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00600" y="41330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897880" y="41788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language → phishing signal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-1828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50292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7772400" cy="621792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6217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21615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CySecBERT outperforms BERT on domain-matched data (+1.02pp F1)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7772400" cy="621792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74520"/>
            <a:ext cx="64008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94767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struggle with distribution shift — ~25pp accuracy drop on new data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7772400" cy="621792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606040"/>
            <a:ext cx="64008" cy="6217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67919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generalizes better; CySecBERT over-applies security patterns outside its domain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7772400" cy="621792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337560"/>
            <a:ext cx="64008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41071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tuning recovers ~70% of false positives at cost of increased false negatives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069080"/>
            <a:ext cx="7772400" cy="621792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069080"/>
            <a:ext cx="64008" cy="62179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14223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 confirms models rely on lexical signals, not deep semantic understanding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932</Words>
  <Application>Microsoft Office PowerPoint</Application>
  <PresentationFormat>Prezentácia na obrazovke (16:9)</PresentationFormat>
  <Paragraphs>227</Paragraphs>
  <Slides>12</Slides>
  <Notes>12</Notes>
  <HiddenSlides>0</HiddenSlides>
  <MMClips>0</MMClips>
  <ScaleCrop>false</ScaleCrop>
  <HeadingPairs>
    <vt:vector size="4" baseType="variant">
      <vt:variant>
        <vt:lpstr>Motív</vt:lpstr>
      </vt:variant>
      <vt:variant>
        <vt:i4>1</vt:i4>
      </vt:variant>
      <vt:variant>
        <vt:lpstr>Nadpisy snímok</vt:lpstr>
      </vt:variant>
      <vt:variant>
        <vt:i4>12</vt:i4>
      </vt:variant>
    </vt:vector>
  </HeadingPairs>
  <TitlesOfParts>
    <vt:vector size="13" baseType="lpstr">
      <vt:lpstr>Office Theme</vt:lpstr>
      <vt:lpstr>Snímka 1</vt:lpstr>
      <vt:lpstr>Snímka 2</vt:lpstr>
      <vt:lpstr>Snímka 3</vt:lpstr>
      <vt:lpstr>Snímka 4</vt:lpstr>
      <vt:lpstr>Snímka 5</vt:lpstr>
      <vt:lpstr>Snímka 6</vt:lpstr>
      <vt:lpstr>Snímka 7</vt:lpstr>
      <vt:lpstr>Snímka 8</vt:lpstr>
      <vt:lpstr>Snímka 9</vt:lpstr>
      <vt:lpstr>Snímka 10</vt:lpstr>
      <vt:lpstr>Snímka 11</vt:lpstr>
      <vt:lpstr>Snímka 12</vt:lpstr>
    </vt:vector>
  </TitlesOfParts>
  <Company>PptxGenJS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Phishing Detection — BERT vs CySecBERT</dc:title>
  <dc:subject>PptxGenJS Presentation</dc:subject>
  <dc:creator>PptxGenJS</dc:creator>
  <cp:lastModifiedBy>N H</cp:lastModifiedBy>
  <cp:revision>4</cp:revision>
  <dcterms:created xsi:type="dcterms:W3CDTF">2026-04-26T11:53:58Z</dcterms:created>
  <dcterms:modified xsi:type="dcterms:W3CDTF">2026-04-26T17:20:34Z</dcterms:modified>
</cp:coreProperties>
</file>