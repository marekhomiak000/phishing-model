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29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5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29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38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39" name="Google Shape;38;p4"/>
              <p:cNvPicPr/>
              <p:nvPr/>
            </p:nvPicPr>
            <p:blipFill>
              <a:blip r:embed="rId2"/>
              <a:srcRect t="28154" r="83008" b="11928"/>
              <a:stretch/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0" name="Google Shape;39;p4"/>
              <p:cNvPicPr/>
              <p:nvPr/>
            </p:nvPicPr>
            <p:blipFill>
              <a:blip r:embed="rId3"/>
              <a:srcRect l="13257" t="4640" r="52035" b="54899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1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42" name="Google Shape;41;p4"/>
              <p:cNvPicPr/>
              <p:nvPr/>
            </p:nvPicPr>
            <p:blipFill>
              <a:blip r:embed="rId3"/>
              <a:srcRect l="31146" t="56446" r="25575" b="4983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3" name="Google Shape;42;p4"/>
              <p:cNvPicPr/>
              <p:nvPr/>
            </p:nvPicPr>
            <p:blipFill>
              <a:blip r:embed="rId2"/>
              <a:srcRect l="4614" t="2365" r="79209" b="23718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46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47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3" name="Google Shape;10;p2"/>
            <p:cNvPicPr/>
            <p:nvPr/>
          </p:nvPicPr>
          <p:blipFill>
            <a:blip r:embed="rId3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1;p2"/>
            <p:cNvPicPr/>
            <p:nvPr/>
          </p:nvPicPr>
          <p:blipFill>
            <a:blip r:embed="rId4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6" name="Google Shape;13;p2"/>
            <p:cNvPicPr/>
            <p:nvPr/>
          </p:nvPicPr>
          <p:blipFill>
            <a:blip r:embed="rId4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" name="Google Shape;14;p2"/>
            <p:cNvPicPr/>
            <p:nvPr/>
          </p:nvPicPr>
          <p:blipFill>
            <a:blip r:embed="rId3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10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6" name="Google Shape;195;p17"/>
            <p:cNvPicPr/>
            <p:nvPr/>
          </p:nvPicPr>
          <p:blipFill>
            <a:blip r:embed="rId3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" name="Google Shape;196;p17"/>
            <p:cNvPicPr/>
            <p:nvPr/>
          </p:nvPicPr>
          <p:blipFill>
            <a:blip r:embed="rId4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9" name="Google Shape;198;p17"/>
            <p:cNvPicPr/>
            <p:nvPr/>
          </p:nvPicPr>
          <p:blipFill>
            <a:blip r:embed="rId4"/>
            <a:srcRect l="36932" t="-9160" r="19789" b="65672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" name="Google Shape;199;p17"/>
            <p:cNvPicPr/>
            <p:nvPr/>
          </p:nvPicPr>
          <p:blipFill>
            <a:blip r:embed="rId3"/>
            <a:srcRect l="-4381" t="29604" r="80498" b="5729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51760" y="86598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Detekcia</a:t>
            </a:r>
            <a:r>
              <a:rPr lang="en-US" sz="5200" b="1" u="none" strike="noStrike" dirty="0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 </a:t>
            </a:r>
            <a:r>
              <a:rPr lang="en-US" sz="52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phishingových</a:t>
            </a:r>
            <a:r>
              <a:rPr lang="en-US" sz="5200" b="1" u="none" strike="noStrike" dirty="0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 </a:t>
            </a:r>
            <a:br>
              <a:rPr lang="en-US" sz="5200" b="1" u="none" strike="noStrike" dirty="0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</a:br>
            <a:r>
              <a:rPr lang="en-US" sz="5200" b="1" u="none" strike="noStrike" dirty="0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e-</a:t>
            </a:r>
            <a:r>
              <a:rPr lang="en-US" sz="52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mailov</a:t>
            </a:r>
            <a:r>
              <a:rPr lang="en-US" sz="5200" b="1" u="none" strike="noStrike" dirty="0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 </a:t>
            </a:r>
            <a:r>
              <a:rPr lang="en-US" sz="52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pomocou</a:t>
            </a:r>
            <a:r>
              <a:rPr lang="en-US" sz="5200" b="1" u="none" strike="noStrike" dirty="0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 </a:t>
            </a:r>
            <a:r>
              <a:rPr lang="en-US" sz="52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F0502020204030204" pitchFamily="18" charset="-18"/>
                <a:ea typeface="Unbounded"/>
              </a:rPr>
              <a:t>CySecBERT</a:t>
            </a:r>
            <a:endParaRPr lang="fr-FR" sz="5200" b="0" u="none" strike="noStrike" dirty="0">
              <a:solidFill>
                <a:schemeClr val="dk1"/>
              </a:solidFill>
              <a:effectLst/>
              <a:uFillTx/>
              <a:latin typeface="Amasis MT Pro Black" panose="020F0502020204030204" pitchFamily="18" charset="-18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108363" y="2983345"/>
            <a:ext cx="6793345" cy="7725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Porovnanie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600" u="none" strike="noStrike" dirty="0">
                <a:solidFill>
                  <a:srgbClr val="00B050"/>
                </a:solidFill>
                <a:effectLst/>
                <a:uFillTx/>
                <a:latin typeface="Actor"/>
                <a:ea typeface="Actor"/>
              </a:rPr>
              <a:t>BERT-base-uncased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vs. </a:t>
            </a:r>
            <a:r>
              <a:rPr lang="en-US" sz="1600" b="0" u="none" strike="noStrike" dirty="0" err="1">
                <a:solidFill>
                  <a:srgbClr val="FF0000"/>
                </a:solidFill>
                <a:effectLst/>
                <a:uFillTx/>
                <a:latin typeface="Actor"/>
                <a:ea typeface="Actor"/>
              </a:rPr>
              <a:t>CySecBERT</a:t>
            </a:r>
            <a:r>
              <a:rPr lang="en-US" sz="1600" b="0" u="none" strike="noStrike" dirty="0">
                <a:solidFill>
                  <a:srgbClr val="FF0000"/>
                </a:solidFill>
                <a:effectLst/>
                <a:uFillTx/>
                <a:latin typeface="Actor"/>
                <a:ea typeface="Actor"/>
              </a:rPr>
              <a:t> 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Dataset: </a:t>
            </a:r>
            <a:r>
              <a:rPr lang="en-US" sz="16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zefang-liu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/phishing-email-dataset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AF8879A5-8725-40BD-2353-BED593FF71F4}"/>
              </a:ext>
            </a:extLst>
          </p:cNvPr>
          <p:cNvSpPr txBox="1"/>
          <p:nvPr/>
        </p:nvSpPr>
        <p:spPr>
          <a:xfrm>
            <a:off x="1222748" y="3862021"/>
            <a:ext cx="669850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b="1" dirty="0">
                <a:solidFill>
                  <a:schemeClr val="tx2">
                    <a:lumMod val="75000"/>
                  </a:schemeClr>
                </a:solidFill>
                <a:latin typeface="Actor"/>
              </a:rPr>
              <a:t>Členovia</a:t>
            </a:r>
            <a:r>
              <a:rPr lang="sk-SK" b="1" dirty="0">
                <a:solidFill>
                  <a:schemeClr val="tx2">
                    <a:lumMod val="75000"/>
                  </a:schemeClr>
                </a:solidFill>
              </a:rPr>
              <a:t> tímu:</a:t>
            </a:r>
          </a:p>
          <a:p>
            <a:pPr algn="ctr"/>
            <a:endParaRPr lang="sk-SK" b="1" dirty="0">
              <a:solidFill>
                <a:schemeClr val="tx2">
                  <a:lumMod val="75000"/>
                </a:schemeClr>
              </a:solidFill>
              <a:latin typeface="Actor"/>
            </a:endParaRPr>
          </a:p>
          <a:p>
            <a:pPr algn="ctr"/>
            <a:r>
              <a:rPr lang="sk-SK" sz="1600" b="1" dirty="0">
                <a:solidFill>
                  <a:schemeClr val="bg1"/>
                </a:solidFill>
                <a:latin typeface="Actor"/>
              </a:rPr>
              <a:t>Hugo Juraj Bulinský     Marko Olejník     Marek </a:t>
            </a:r>
            <a:r>
              <a:rPr lang="sk-SK" sz="1600" b="1" dirty="0" err="1">
                <a:solidFill>
                  <a:schemeClr val="bg1"/>
                </a:solidFill>
                <a:latin typeface="Actor"/>
              </a:rPr>
              <a:t>Homiak</a:t>
            </a:r>
            <a:r>
              <a:rPr lang="sk-SK" sz="1600" b="1" dirty="0">
                <a:solidFill>
                  <a:schemeClr val="bg1"/>
                </a:solidFill>
                <a:latin typeface="Actor"/>
              </a:rPr>
              <a:t>     Adrián Polák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619;p49"/>
          <p:cNvPicPr/>
          <p:nvPr/>
        </p:nvPicPr>
        <p:blipFill>
          <a:blip r:embed="rId2"/>
          <a:stretch/>
        </p:blipFill>
        <p:spPr>
          <a:xfrm>
            <a:off x="4944240" y="974520"/>
            <a:ext cx="3247920" cy="319392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14240" y="885960"/>
            <a:ext cx="4161960" cy="84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9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  <a:ea typeface="Unbounded"/>
              </a:rPr>
              <a:t>Formulácia</a:t>
            </a:r>
            <a:r>
              <a:rPr lang="en-US" sz="2900" b="1" u="none" strike="noStrike" dirty="0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 </a:t>
            </a:r>
            <a:endParaRPr lang="fr-FR" sz="2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476640" y="1735200"/>
            <a:ext cx="4161960" cy="2770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i="1" u="none" strike="noStrike" dirty="0">
                <a:solidFill>
                  <a:srgbClr val="FF0000"/>
                </a:solidFill>
                <a:effectLst/>
                <a:uFillTx/>
                <a:latin typeface="Actor"/>
                <a:ea typeface="Actor"/>
              </a:rPr>
              <a:t>Phishing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je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jedna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z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najrozšírenejších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foriem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kybernetických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útokov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.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Útočníci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vydávajúci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sa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za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banky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IT helpdesk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alebo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kolegov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kradnú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prihlasovacie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údaje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a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finančné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prostriedky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none" strike="noStrike" dirty="0" err="1">
                <a:solidFill>
                  <a:srgbClr val="FF0000"/>
                </a:solidFill>
                <a:effectLst/>
                <a:uFillTx/>
                <a:latin typeface="Actor"/>
                <a:ea typeface="Actor"/>
              </a:rPr>
              <a:t>Cieľ</a:t>
            </a:r>
            <a:r>
              <a:rPr lang="en-US" sz="1400" b="1" u="none" strike="noStrike" dirty="0">
                <a:solidFill>
                  <a:srgbClr val="FF0000"/>
                </a:solidFill>
                <a:effectLst/>
                <a:uFillTx/>
                <a:latin typeface="Actor"/>
                <a:ea typeface="Actor"/>
              </a:rPr>
              <a:t>: 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fine-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tunovať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1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CySecBERT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na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binárnu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klasifikáciu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e-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mailov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(Safe Email vs. Phishing Email) a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porovnať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ho s all-purpose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modelom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BERT-base-uncased za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totožných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podmienok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1" name="Google Shape;622;p49"/>
          <p:cNvGrpSpPr/>
          <p:nvPr/>
        </p:nvGrpSpPr>
        <p:grpSpPr>
          <a:xfrm>
            <a:off x="4638600" y="4257540"/>
            <a:ext cx="1159200" cy="793080"/>
            <a:chOff x="4115880" y="4065480"/>
            <a:chExt cx="1159200" cy="793080"/>
          </a:xfrm>
        </p:grpSpPr>
        <p:cxnSp>
          <p:nvCxnSpPr>
            <p:cNvPr id="62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63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64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5048280" y="61920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01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04828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Dataset </a:t>
            </a:r>
            <a:r>
              <a:rPr lang="en-US" sz="28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&amp; </a:t>
            </a:r>
            <a:r>
              <a:rPr lang="en-US" sz="28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Predspracovanie</a:t>
            </a:r>
            <a:endParaRPr lang="en-US" sz="4000" b="1" u="none" strike="noStrike" dirty="0">
              <a:solidFill>
                <a:srgbClr val="FFFFFF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67" name="image69e917d86a42b" descr="image69e917d86a430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"/>
          <p:cNvSpPr/>
          <p:nvPr/>
        </p:nvSpPr>
        <p:spPr>
          <a:xfrm>
            <a:off x="619200" y="400000"/>
            <a:ext cx="8200000" cy="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Popis</a:t>
            </a:r>
            <a:r>
              <a:rPr lang="en-US" sz="26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</a:t>
            </a: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datasetu</a:t>
            </a:r>
            <a:endParaRPr lang="en-US" sz="2600" b="1" u="none" strike="noStrike" dirty="0">
              <a:solidFill>
                <a:schemeClr val="lt1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61" name="Bullets"/>
          <p:cNvSpPr/>
          <p:nvPr/>
        </p:nvSpPr>
        <p:spPr>
          <a:xfrm>
            <a:off x="619200" y="1050000"/>
            <a:ext cx="3900000" cy="3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rmAutofit/>
          </a:bodyPr>
          <a:lstStyle/>
          <a:p>
            <a:pPr defTabSz="457200">
              <a:lnSpc>
                <a:spcPct val="120000"/>
              </a:lnSpc>
              <a:buNone/>
            </a:pPr>
            <a:r>
              <a:rPr lang="en-US" sz="14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Dataset: </a:t>
            </a:r>
            <a:r>
              <a:rPr lang="en-US" sz="14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zefang-liu</a:t>
            </a:r>
            <a:r>
              <a:rPr lang="en-US" sz="14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/phishing-email-dataset</a:t>
            </a:r>
          </a:p>
          <a:p>
            <a:pPr defTabSz="457200">
              <a:lnSpc>
                <a:spcPct val="120000"/>
              </a:lnSpc>
              <a:buNone/>
            </a:pPr>
            <a:endParaRPr lang="en-US" sz="1400" b="1" u="none" strike="noStrike" dirty="0">
              <a:solidFill>
                <a:srgbClr val="9B6D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Zdroj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: Hugging Face Hub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Binárna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klasifikácia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e-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mailov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Safe Email  → 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trieda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0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Phishing Email  → 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trieda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1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Mierna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nerovnováha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tried (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reálne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prostredie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)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Stratifikované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rozdelenie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, seed = 42</a:t>
            </a:r>
          </a:p>
        </p:txBody>
      </p:sp>
      <p:graphicFrame>
        <p:nvGraphicFramePr>
          <p:cNvPr id="62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418913"/>
              </p:ext>
            </p:extLst>
          </p:nvPr>
        </p:nvGraphicFramePr>
        <p:xfrm>
          <a:off x="4700000" y="1050000"/>
          <a:ext cx="3799998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 err="1">
                          <a:solidFill>
                            <a:srgbClr val="FFFFFF"/>
                          </a:solidFill>
                          <a:latin typeface="Actor"/>
                        </a:rPr>
                        <a:t>Množina</a:t>
                      </a:r>
                      <a:endParaRPr lang="en-US" sz="1600" b="1" u="none" strike="noStrike" dirty="0">
                        <a:solidFill>
                          <a:srgbClr val="FFFF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 err="1">
                          <a:solidFill>
                            <a:srgbClr val="FFFFFF"/>
                          </a:solidFill>
                          <a:latin typeface="Actor"/>
                        </a:rPr>
                        <a:t>Veľkosť</a:t>
                      </a:r>
                      <a:endParaRPr lang="en-US" sz="1600" b="1" u="none" strike="noStrike" dirty="0">
                        <a:solidFill>
                          <a:srgbClr val="FFFF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 err="1">
                          <a:solidFill>
                            <a:srgbClr val="FFFFFF"/>
                          </a:solidFill>
                          <a:latin typeface="Actor"/>
                        </a:rPr>
                        <a:t>Podiel</a:t>
                      </a:r>
                      <a:endParaRPr lang="en-US" sz="1600" b="1" u="none" strike="noStrike" dirty="0">
                        <a:solidFill>
                          <a:srgbClr val="FFFF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 dirty="0" err="1">
                          <a:solidFill>
                            <a:srgbClr val="9B6DFF"/>
                          </a:solidFill>
                          <a:latin typeface="Actor"/>
                        </a:rPr>
                        <a:t>Trénovacia</a:t>
                      </a:r>
                      <a:endParaRPr lang="en-US" sz="1400" b="1" u="none" strike="noStrike" dirty="0">
                        <a:solidFill>
                          <a:srgbClr val="9B6D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~72 %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Train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 dirty="0" err="1">
                          <a:solidFill>
                            <a:srgbClr val="9B6DFF"/>
                          </a:solidFill>
                          <a:latin typeface="Actor"/>
                        </a:rPr>
                        <a:t>Validačná</a:t>
                      </a:r>
                      <a:endParaRPr lang="en-US" sz="1400" b="1" u="none" strike="noStrike" dirty="0">
                        <a:solidFill>
                          <a:srgbClr val="9B6D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~13 %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Val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 dirty="0" err="1">
                          <a:solidFill>
                            <a:srgbClr val="9B6DFF"/>
                          </a:solidFill>
                          <a:latin typeface="Actor"/>
                        </a:rPr>
                        <a:t>Testovacia</a:t>
                      </a:r>
                      <a:endParaRPr lang="en-US" sz="1400" b="1" u="none" strike="noStrike" dirty="0">
                        <a:solidFill>
                          <a:srgbClr val="9B6D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~15 %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Test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Note"/>
          <p:cNvSpPr/>
          <p:nvPr/>
        </p:nvSpPr>
        <p:spPr>
          <a:xfrm>
            <a:off x="4700000" y="3000000"/>
            <a:ext cx="3800000" cy="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Autofit/>
          </a:bodyPr>
          <a:lstStyle/>
          <a:p>
            <a:pPr defTabSz="457200">
              <a:lnSpc>
                <a:spcPct val="120000"/>
              </a:lnSpc>
              <a:buNone/>
            </a:pPr>
            <a:r>
              <a:rPr lang="en-US" sz="1200" b="0" u="none" strike="noStrike" dirty="0" err="1">
                <a:solidFill>
                  <a:srgbClr val="CCCCCC"/>
                </a:solidFill>
                <a:effectLst/>
                <a:uFillTx/>
                <a:latin typeface="Actor"/>
              </a:rPr>
              <a:t>Nulový</a:t>
            </a:r>
            <a:r>
              <a:rPr lang="en-US" sz="1200" b="0" u="none" strike="noStrike" dirty="0">
                <a:solidFill>
                  <a:srgbClr val="CCCCCC"/>
                </a:solidFill>
                <a:effectLst/>
                <a:uFillTx/>
                <a:latin typeface="Actor"/>
              </a:rPr>
              <a:t> </a:t>
            </a:r>
            <a:r>
              <a:rPr lang="en-US" sz="1200" b="0" u="none" strike="noStrike" dirty="0" err="1">
                <a:solidFill>
                  <a:srgbClr val="CCCCCC"/>
                </a:solidFill>
                <a:effectLst/>
                <a:uFillTx/>
                <a:latin typeface="Actor"/>
              </a:rPr>
              <a:t>prienik</a:t>
            </a:r>
            <a:r>
              <a:rPr lang="en-US" sz="1200" b="0" u="none" strike="noStrike" dirty="0">
                <a:solidFill>
                  <a:srgbClr val="CCCCCC"/>
                </a:solidFill>
                <a:effectLst/>
                <a:uFillTx/>
                <a:latin typeface="Actor"/>
              </a:rPr>
              <a:t> </a:t>
            </a:r>
            <a:r>
              <a:rPr lang="en-US" sz="1200" b="0" u="none" strike="noStrike" dirty="0" err="1">
                <a:solidFill>
                  <a:srgbClr val="CCCCCC"/>
                </a:solidFill>
                <a:effectLst/>
                <a:uFillTx/>
                <a:latin typeface="Actor"/>
              </a:rPr>
              <a:t>množín</a:t>
            </a:r>
            <a:r>
              <a:rPr lang="en-US" sz="1200" b="0" u="none" strike="noStrike" dirty="0">
                <a:solidFill>
                  <a:srgbClr val="CCCCCC"/>
                </a:solidFill>
                <a:effectLst/>
                <a:uFillTx/>
                <a:latin typeface="Actor"/>
              </a:rPr>
              <a:t> </a:t>
            </a:r>
            <a:r>
              <a:rPr lang="en-US" sz="1200" b="0" u="none" strike="noStrike" dirty="0" err="1">
                <a:solidFill>
                  <a:srgbClr val="CCCCCC"/>
                </a:solidFill>
                <a:effectLst/>
                <a:uFillTx/>
                <a:latin typeface="Actor"/>
              </a:rPr>
              <a:t>overený</a:t>
            </a:r>
            <a:r>
              <a:rPr lang="en-US" sz="1200" b="0" u="none" strike="noStrike" dirty="0">
                <a:solidFill>
                  <a:srgbClr val="CCCCCC"/>
                </a:solidFill>
                <a:effectLst/>
                <a:uFillTx/>
                <a:latin typeface="Actor"/>
              </a:rPr>
              <a:t>. </a:t>
            </a:r>
            <a:r>
              <a:rPr lang="en-US" sz="1200" b="0" u="none" strike="noStrike" dirty="0" err="1">
                <a:solidFill>
                  <a:srgbClr val="CCCCCC"/>
                </a:solidFill>
                <a:effectLst/>
                <a:uFillTx/>
                <a:latin typeface="Actor"/>
              </a:rPr>
              <a:t>Reprodukovateľnosť</a:t>
            </a:r>
            <a:r>
              <a:rPr lang="en-US" sz="1200" b="0" u="none" strike="noStrike" dirty="0">
                <a:solidFill>
                  <a:srgbClr val="CCCCCC"/>
                </a:solidFill>
                <a:effectLst/>
                <a:uFillTx/>
                <a:latin typeface="Actor"/>
              </a:rPr>
              <a:t>:</a:t>
            </a:r>
          </a:p>
          <a:p>
            <a:pPr defTabSz="457200">
              <a:lnSpc>
                <a:spcPct val="120000"/>
              </a:lnSpc>
              <a:buNone/>
            </a:pPr>
            <a:r>
              <a:rPr lang="en-US" sz="12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seed=42 </a:t>
            </a:r>
            <a:r>
              <a:rPr lang="en-US" sz="12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vo</a:t>
            </a:r>
            <a:r>
              <a:rPr lang="en-US" sz="12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</a:t>
            </a:r>
            <a:r>
              <a:rPr lang="en-US" sz="12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všetkých</a:t>
            </a:r>
            <a:r>
              <a:rPr lang="en-US" sz="12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</a:t>
            </a:r>
            <a:r>
              <a:rPr lang="en-US" sz="12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knižniciach</a:t>
            </a:r>
            <a:r>
              <a:rPr lang="en-US" sz="12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(random, </a:t>
            </a:r>
            <a:r>
              <a:rPr lang="en-US" sz="12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numpy</a:t>
            </a:r>
            <a:r>
              <a:rPr lang="en-US" sz="12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, torch, CUDA)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"/>
          <p:cNvSpPr/>
          <p:nvPr/>
        </p:nvSpPr>
        <p:spPr>
          <a:xfrm>
            <a:off x="619200" y="400000"/>
            <a:ext cx="8200000" cy="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Predspracovanie</a:t>
            </a:r>
            <a:r>
              <a:rPr lang="en-US" sz="26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</a:t>
            </a: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dát</a:t>
            </a:r>
            <a:endParaRPr lang="en-US" sz="2600" b="1" u="none" strike="noStrike" dirty="0">
              <a:solidFill>
                <a:schemeClr val="lt1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71" name="Steps"/>
          <p:cNvSpPr/>
          <p:nvPr/>
        </p:nvSpPr>
        <p:spPr>
          <a:xfrm>
            <a:off x="619200" y="1100000"/>
            <a:ext cx="8400000" cy="3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rmAutofit/>
          </a:bodyPr>
          <a:lstStyle/>
          <a:p>
            <a:pPr defTabSz="457200">
              <a:lnSpc>
                <a:spcPct val="120000"/>
              </a:lnSpc>
              <a:buFont typeface="Actor"/>
              <a:buAutoNum type="arabicPeriod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Odstránenie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riadkov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s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hodnotami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a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stĺpca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Unnamed:0</a:t>
            </a:r>
          </a:p>
          <a:p>
            <a:pPr defTabSz="457200">
              <a:lnSpc>
                <a:spcPct val="120000"/>
              </a:lnSpc>
              <a:buFont typeface="Actor"/>
              <a:buAutoNum type="arabicPeriod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Premenovanie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stĺpcov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 →  text  a  label</a:t>
            </a:r>
          </a:p>
          <a:p>
            <a:pPr defTabSz="457200">
              <a:lnSpc>
                <a:spcPct val="120000"/>
              </a:lnSpc>
              <a:buFont typeface="Actor"/>
              <a:buAutoNum type="arabicPeriod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Čistenie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textu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: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zalomenia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riadkov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→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medzery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,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normalizácia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whitespace (regex)</a:t>
            </a:r>
          </a:p>
          <a:p>
            <a:pPr defTabSz="457200">
              <a:lnSpc>
                <a:spcPct val="120000"/>
              </a:lnSpc>
              <a:buFont typeface="Actor"/>
              <a:buAutoNum type="arabicPeriod"/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Enkódovanie tried:  Safe Email → 0   |   Phishing Email → 1</a:t>
            </a:r>
          </a:p>
          <a:p>
            <a:pPr defTabSz="457200">
              <a:lnSpc>
                <a:spcPct val="120000"/>
              </a:lnSpc>
              <a:buFont typeface="Actor"/>
              <a:buAutoNum type="arabicPeriod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Odstránenie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duplikátov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po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čistení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textu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(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zachytí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skryté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duplikáty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)</a:t>
            </a:r>
          </a:p>
          <a:p>
            <a:pPr defTabSz="457200">
              <a:lnSpc>
                <a:spcPct val="120000"/>
              </a:lnSpc>
              <a:buNone/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None/>
            </a:pPr>
            <a:r>
              <a:rPr lang="en-US" sz="1400" b="0" i="1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Tokenizácia</a:t>
            </a:r>
            <a:r>
              <a:rPr lang="en-US" sz="1400" b="0" i="1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: max. </a:t>
            </a:r>
            <a:r>
              <a:rPr lang="en-US" sz="1400" b="0" i="1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dĺžka</a:t>
            </a:r>
            <a:r>
              <a:rPr lang="en-US" sz="1400" b="0" i="1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128 </a:t>
            </a:r>
            <a:r>
              <a:rPr lang="en-US" sz="1400" b="0" i="1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tokenov</a:t>
            </a:r>
            <a:r>
              <a:rPr lang="en-US" sz="1400" b="0" i="1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· padding + truncation · </a:t>
            </a:r>
            <a:r>
              <a:rPr lang="en-US" sz="1400" b="0" i="1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return_tensors</a:t>
            </a:r>
            <a:r>
              <a:rPr lang="en-US" sz="1400" b="0" i="1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='pt'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619;p49"/>
          <p:cNvPicPr/>
          <p:nvPr/>
        </p:nvPicPr>
        <p:blipFill>
          <a:blip r:embed="rId2"/>
          <a:stretch/>
        </p:blipFill>
        <p:spPr>
          <a:xfrm>
            <a:off x="4944240" y="974520"/>
            <a:ext cx="3247920" cy="319392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48260" y="974520"/>
            <a:ext cx="4161960" cy="67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  <a:ea typeface="Unbounded"/>
              </a:rPr>
              <a:t>Porovnanie</a:t>
            </a:r>
            <a:r>
              <a:rPr lang="en-US" sz="24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  <a:ea typeface="Unbounded"/>
              </a:rPr>
              <a:t> </a:t>
            </a:r>
            <a:r>
              <a:rPr lang="en-US" sz="2400" b="0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  <a:ea typeface="Unbounded"/>
              </a:rPr>
              <a:t>modelov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535320" y="1585080"/>
            <a:ext cx="4161960" cy="67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tx2">
                    <a:lumMod val="75000"/>
                  </a:schemeClr>
                </a:solidFill>
                <a:effectLst/>
                <a:uFillTx/>
                <a:latin typeface="Actor"/>
                <a:ea typeface="Actor"/>
              </a:rPr>
              <a:t>BERT-base-uncased (baseline):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predtrénovaný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na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Wikipedia +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BookCorpus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12 Transformer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vrstiev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110M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parametrov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WordPiece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tokenizátor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.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Obojsmerný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kontext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(bidirectional).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none" strike="noStrike" dirty="0" err="1">
                <a:solidFill>
                  <a:schemeClr val="tx2">
                    <a:lumMod val="75000"/>
                  </a:schemeClr>
                </a:solidFill>
                <a:effectLst/>
                <a:uFillTx/>
                <a:latin typeface="Actor"/>
                <a:ea typeface="Actor"/>
              </a:rPr>
              <a:t>CySecBERT</a:t>
            </a:r>
            <a:r>
              <a:rPr lang="en-US" sz="1400" b="1" u="none" strike="noStrike" dirty="0">
                <a:solidFill>
                  <a:schemeClr val="tx2">
                    <a:lumMod val="75000"/>
                  </a:schemeClr>
                </a:solidFill>
                <a:effectLst/>
                <a:uFillTx/>
                <a:latin typeface="Actor"/>
                <a:ea typeface="Actor"/>
              </a:rPr>
              <a:t> (</a:t>
            </a:r>
            <a:r>
              <a:rPr lang="en-US" sz="1400" b="1" u="none" strike="noStrike" dirty="0" err="1">
                <a:solidFill>
                  <a:schemeClr val="tx2">
                    <a:lumMod val="75000"/>
                  </a:schemeClr>
                </a:solidFill>
                <a:effectLst/>
                <a:uFillTx/>
                <a:latin typeface="Actor"/>
                <a:ea typeface="Actor"/>
              </a:rPr>
              <a:t>markusbayer</a:t>
            </a:r>
            <a:r>
              <a:rPr lang="en-US" sz="1400" b="1" u="none" strike="noStrike" dirty="0">
                <a:solidFill>
                  <a:schemeClr val="tx2">
                    <a:lumMod val="75000"/>
                  </a:schemeClr>
                </a:solidFill>
                <a:effectLst/>
                <a:uFillTx/>
                <a:latin typeface="Actor"/>
                <a:ea typeface="Actor"/>
              </a:rPr>
              <a:t>/</a:t>
            </a:r>
            <a:r>
              <a:rPr lang="en-US" sz="1400" b="1" u="none" strike="noStrike" dirty="0" err="1">
                <a:solidFill>
                  <a:schemeClr val="tx2">
                    <a:lumMod val="75000"/>
                  </a:schemeClr>
                </a:solidFill>
                <a:effectLst/>
                <a:uFillTx/>
                <a:latin typeface="Actor"/>
                <a:ea typeface="Actor"/>
              </a:rPr>
              <a:t>CySecBERT</a:t>
            </a:r>
            <a:r>
              <a:rPr lang="en-US" sz="1400" b="1" u="none" strike="noStrike" dirty="0">
                <a:solidFill>
                  <a:schemeClr val="tx2">
                    <a:lumMod val="75000"/>
                  </a:schemeClr>
                </a:solidFill>
                <a:effectLst/>
                <a:uFillTx/>
                <a:latin typeface="Actor"/>
                <a:ea typeface="Actor"/>
              </a:rPr>
              <a:t>): 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BERT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ďalej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predtrénovaný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na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kybernetických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textoch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(CVE,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malvér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phishing).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Rozšírená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doménová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slovná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zásoba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—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lepšie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rozumie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výrazom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: </a:t>
            </a:r>
            <a:r>
              <a:rPr lang="en-US" sz="1400" b="1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credentials, verify account, click here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.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Zachováva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BERT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architektúru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—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rovnaké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fine-tuning API.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5" name="Google Shape;622;p49"/>
          <p:cNvGrpSpPr/>
          <p:nvPr/>
        </p:nvGrpSpPr>
        <p:grpSpPr>
          <a:xfrm>
            <a:off x="4572000" y="4267080"/>
            <a:ext cx="1159200" cy="793080"/>
            <a:chOff x="4115880" y="4065480"/>
            <a:chExt cx="1159200" cy="793080"/>
          </a:xfrm>
        </p:grpSpPr>
        <p:cxnSp>
          <p:nvCxnSpPr>
            <p:cNvPr id="76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77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78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pic>
        <p:nvPicPr>
          <p:cNvPr id="4" name="Obrázok 3">
            <a:extLst>
              <a:ext uri="{FF2B5EF4-FFF2-40B4-BE49-F238E27FC236}">
                <a16:creationId xmlns:a16="http://schemas.microsoft.com/office/drawing/2014/main" id="{87812184-7CB4-023E-B4DD-43BB2732A3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00" y="904220"/>
            <a:ext cx="3421000" cy="342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619200" y="619200"/>
            <a:ext cx="214272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02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Metodológia</a:t>
            </a:r>
            <a:r>
              <a:rPr lang="en-US" sz="40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&amp; </a:t>
            </a:r>
            <a:r>
              <a:rPr lang="en-US" sz="40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Tréning</a:t>
            </a:r>
            <a:endParaRPr lang="en-US" sz="4000" b="1" u="none" strike="noStrike" dirty="0">
              <a:solidFill>
                <a:srgbClr val="FFFFFF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81" name="image69e917d890875" descr="image69e917d890879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"/>
          <p:cNvSpPr/>
          <p:nvPr/>
        </p:nvSpPr>
        <p:spPr>
          <a:xfrm>
            <a:off x="519200" y="400000"/>
            <a:ext cx="8200000" cy="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Hyperparametre</a:t>
            </a:r>
            <a:r>
              <a:rPr lang="en-US" sz="26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</a:t>
            </a: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tréningu</a:t>
            </a:r>
            <a:endParaRPr lang="en-US" sz="2600" b="1" u="none" strike="noStrike" dirty="0">
              <a:solidFill>
                <a:schemeClr val="lt1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graphicFrame>
        <p:nvGraphicFramePr>
          <p:cNvPr id="81" name="Table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284060"/>
              </p:ext>
            </p:extLst>
          </p:nvPr>
        </p:nvGraphicFramePr>
        <p:xfrm>
          <a:off x="519200" y="1075000"/>
          <a:ext cx="84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Hyperparameter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BERT-base-uncased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 err="1">
                          <a:solidFill>
                            <a:srgbClr val="FFFFFF"/>
                          </a:solidFill>
                          <a:latin typeface="Actor"/>
                        </a:rPr>
                        <a:t>CySecBERT</a:t>
                      </a:r>
                      <a:endParaRPr lang="en-US" sz="1600" b="1" u="none" strike="noStrike" dirty="0">
                        <a:solidFill>
                          <a:srgbClr val="FFFF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 dirty="0" err="1">
                          <a:solidFill>
                            <a:srgbClr val="9B6DFF"/>
                          </a:solidFill>
                          <a:latin typeface="Actor"/>
                        </a:rPr>
                        <a:t>Počet</a:t>
                      </a:r>
                      <a:r>
                        <a:rPr lang="en-US" sz="1400" b="1" u="none" strike="noStrike" dirty="0">
                          <a:solidFill>
                            <a:srgbClr val="9B6DFF"/>
                          </a:solidFill>
                          <a:latin typeface="Actor"/>
                        </a:rPr>
                        <a:t> epoch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3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3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9B6DFF"/>
                          </a:solidFill>
                          <a:latin typeface="Actor"/>
                        </a:rPr>
                        <a:t>Learning rate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1 × 10⁻⁵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1 × 10⁻⁵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>
                          <a:solidFill>
                            <a:srgbClr val="9B6DFF"/>
                          </a:solidFill>
                          <a:latin typeface="Actor"/>
                        </a:rPr>
                        <a:t>Batch size (train / eval)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32 / 32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32 / 32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>
                          <a:solidFill>
                            <a:srgbClr val="9B6DFF"/>
                          </a:solidFill>
                          <a:latin typeface="Actor"/>
                        </a:rPr>
                        <a:t>Max. dĺžka sekvencie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128 </a:t>
                      </a: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Actor"/>
                        </a:rPr>
                        <a:t>tokenov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128 tokenov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>
                          <a:solidFill>
                            <a:srgbClr val="9B6DFF"/>
                          </a:solidFill>
                          <a:latin typeface="Actor"/>
                        </a:rPr>
                        <a:t>Warmup ratio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—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0.1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>
                          <a:solidFill>
                            <a:srgbClr val="9B6DFF"/>
                          </a:solidFill>
                          <a:latin typeface="Actor"/>
                        </a:rPr>
                        <a:t>FP16 (mixed precision)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latin typeface="Actor"/>
                        </a:rPr>
                        <a:t>✓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latin typeface="Actor"/>
                        </a:rPr>
                        <a:t>✓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>
                          <a:solidFill>
                            <a:srgbClr val="9B6DFF"/>
                          </a:solidFill>
                          <a:latin typeface="Actor"/>
                        </a:rPr>
                        <a:t>Eval / Save stratégia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každá epocha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Actor"/>
                        </a:rPr>
                        <a:t>každá</a:t>
                      </a: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Actor"/>
                        </a:rPr>
                        <a:t>epocha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>
                          <a:solidFill>
                            <a:srgbClr val="9B6DFF"/>
                          </a:solidFill>
                          <a:latin typeface="Actor"/>
                        </a:rPr>
                        <a:t>Best checkpoint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val accuracy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Actor"/>
                        </a:rPr>
                        <a:t>val</a:t>
                      </a: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 accuracy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2" name="Note"/>
          <p:cNvSpPr/>
          <p:nvPr/>
        </p:nvSpPr>
        <p:spPr>
          <a:xfrm>
            <a:off x="619200" y="4750000"/>
            <a:ext cx="8400000" cy="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rmAutofit/>
          </a:bodyPr>
          <a:lstStyle/>
          <a:p>
            <a:pPr defTabSz="457200">
              <a:lnSpc>
                <a:spcPct val="120000"/>
              </a:lnSpc>
              <a:buNone/>
            </a:pPr>
            <a:r>
              <a:rPr lang="en-US" sz="950" b="0" i="1" u="none" strike="noStrike">
                <a:solidFill>
                  <a:srgbClr val="7EC8E3"/>
                </a:solidFill>
                <a:effectLst/>
                <a:uFillTx/>
                <a:latin typeface="Actor"/>
              </a:rPr>
              <a:t>Reprodukovateľnosť: seed=42 fixovaný naprieč random · numpy · torch · CUDA  |  load_best_model_at_end=True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"/>
          <p:cNvSpPr/>
          <p:nvPr/>
        </p:nvSpPr>
        <p:spPr>
          <a:xfrm>
            <a:off x="619200" y="350000"/>
            <a:ext cx="8200000" cy="5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Výsledky</a:t>
            </a:r>
            <a:r>
              <a:rPr lang="en-US" sz="26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</a:t>
            </a: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na</a:t>
            </a:r>
            <a:r>
              <a:rPr lang="en-US" sz="26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</a:t>
            </a: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testovacej</a:t>
            </a:r>
            <a:r>
              <a:rPr lang="en-US" sz="26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</a:t>
            </a: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množine</a:t>
            </a:r>
            <a:endParaRPr lang="en-US" sz="2600" b="1" u="none" strike="noStrike" dirty="0">
              <a:solidFill>
                <a:schemeClr val="lt1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graphicFrame>
        <p:nvGraphicFramePr>
          <p:cNvPr id="91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9342"/>
              </p:ext>
            </p:extLst>
          </p:nvPr>
        </p:nvGraphicFramePr>
        <p:xfrm>
          <a:off x="619200" y="1000000"/>
          <a:ext cx="8129137" cy="17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Model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Accuracy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F1-score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Precision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Recall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ROC-AUC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9B6DFF"/>
                          </a:solidFill>
                          <a:latin typeface="Actor"/>
                        </a:rPr>
                        <a:t>BERT-base-uncased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0.9821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0.9834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0.9811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0.9857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0.9963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 dirty="0" err="1">
                          <a:solidFill>
                            <a:srgbClr val="9B6DFF"/>
                          </a:solidFill>
                          <a:latin typeface="Actor"/>
                        </a:rPr>
                        <a:t>CySecBERT</a:t>
                      </a:r>
                      <a:endParaRPr lang="en-US" sz="1400" b="1" u="none" strike="noStrike" dirty="0">
                        <a:solidFill>
                          <a:srgbClr val="9B6DFF"/>
                        </a:solidFill>
                        <a:latin typeface="Actor"/>
                      </a:endParaRP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0.9893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0.9936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0.9921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0.9951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0.9972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81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none" strike="noStrike">
                          <a:solidFill>
                            <a:srgbClr val="9B6DFF"/>
                          </a:solidFill>
                          <a:latin typeface="Actor"/>
                        </a:rPr>
                        <a:t>Δ (CySec − BERT)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Actor"/>
                        </a:rPr>
                        <a:t>+0.0072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+0.0102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+0.0110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+0.0094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FFFFFF"/>
                          </a:solidFill>
                          <a:latin typeface="Actor"/>
                        </a:rPr>
                        <a:t>+0.0009</a:t>
                      </a:r>
                    </a:p>
                  </a:txBody>
                  <a:tcPr>
                    <a:lnL w="9525">
                      <a:solidFill>
                        <a:srgbClr val="3D3D6B"/>
                      </a:solidFill>
                    </a:lnL>
                    <a:lnR w="9525">
                      <a:solidFill>
                        <a:srgbClr val="3D3D6B"/>
                      </a:solidFill>
                    </a:lnR>
                    <a:lnT w="9525">
                      <a:solidFill>
                        <a:srgbClr val="3D3D6B"/>
                      </a:solidFill>
                    </a:lnT>
                    <a:lnB w="9525">
                      <a:solidFill>
                        <a:srgbClr val="3D3D6B"/>
                      </a:solidFill>
                    </a:lnB>
                    <a:solidFill>
                      <a:srgbClr val="11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" name="Observations"/>
          <p:cNvSpPr/>
          <p:nvPr/>
        </p:nvSpPr>
        <p:spPr>
          <a:xfrm>
            <a:off x="619200" y="2832800"/>
            <a:ext cx="8400000" cy="21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rmAutofit/>
          </a:bodyPr>
          <a:lstStyle/>
          <a:p>
            <a:pPr defTabSz="457200">
              <a:lnSpc>
                <a:spcPct val="120000"/>
              </a:lnSpc>
              <a:buNone/>
            </a:pPr>
            <a:r>
              <a:rPr lang="en-US" sz="14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CySecBERT</a:t>
            </a:r>
            <a:r>
              <a:rPr lang="en-US" sz="14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</a:t>
            </a:r>
            <a:r>
              <a:rPr lang="en-US" sz="14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prekonáva</a:t>
            </a:r>
            <a:r>
              <a:rPr lang="en-US" sz="14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BERT </a:t>
            </a:r>
            <a:r>
              <a:rPr lang="en-US" sz="14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vo</a:t>
            </a:r>
            <a:r>
              <a:rPr lang="en-US" sz="14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</a:t>
            </a:r>
            <a:r>
              <a:rPr lang="en-US" sz="14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všetkých</a:t>
            </a:r>
            <a:r>
              <a:rPr lang="en-US" sz="14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5 </a:t>
            </a:r>
            <a:r>
              <a:rPr lang="en-US" sz="14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metrikách</a:t>
            </a:r>
            <a:endParaRPr lang="en-US" sz="1400" b="1" u="none" strike="noStrike" dirty="0">
              <a:solidFill>
                <a:srgbClr val="9B6D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Najvýraznejší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rozdiel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: F1 +1.02 pp  |  ROC-AUC +0.09 pp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CySecBERT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zachytil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viac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phishingov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(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menej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FN) —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kľúčové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z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bezpečnostného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hľadiska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Oba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modely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konvergovali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stabilne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počas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3 epoch, bez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preučenia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Test 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na</a:t>
            </a: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externom</a:t>
            </a: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datasete</a:t>
            </a: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(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model_test.ipynb</a:t>
            </a: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): accuracy 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zostala</a:t>
            </a: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vysoká</a:t>
            </a: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— 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modely</a:t>
            </a: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sú</a:t>
            </a:r>
            <a:r>
              <a:rPr lang="en-US" sz="1400" b="0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</a:t>
            </a:r>
            <a:r>
              <a:rPr lang="en-US" sz="1400" b="0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robustné</a:t>
            </a:r>
            <a:endParaRPr lang="en-US" sz="1400" b="0" u="none" strike="noStrike" dirty="0">
              <a:solidFill>
                <a:srgbClr val="7EC8E3"/>
              </a:solidFill>
              <a:effectLst/>
              <a:uFillTx/>
              <a:latin typeface="Acto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619200" y="400000"/>
            <a:ext cx="8200000" cy="5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Analýza</a:t>
            </a:r>
            <a:r>
              <a:rPr lang="en-US" sz="26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</a:t>
            </a:r>
            <a:r>
              <a:rPr lang="en-US" sz="26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chýb</a:t>
            </a:r>
            <a:r>
              <a:rPr lang="en-US" sz="26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&amp; LIME</a:t>
            </a:r>
          </a:p>
        </p:txBody>
      </p:sp>
      <p:sp>
        <p:nvSpPr>
          <p:cNvPr id="101" name="FP"/>
          <p:cNvSpPr/>
          <p:nvPr/>
        </p:nvSpPr>
        <p:spPr>
          <a:xfrm>
            <a:off x="619200" y="1050000"/>
            <a:ext cx="4000000" cy="3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rmAutofit/>
          </a:bodyPr>
          <a:lstStyle/>
          <a:p>
            <a:pPr defTabSz="457200">
              <a:lnSpc>
                <a:spcPct val="120000"/>
              </a:lnSpc>
              <a:buNone/>
            </a:pPr>
            <a:r>
              <a:rPr lang="en-US" sz="16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Falošné</a:t>
            </a:r>
            <a:r>
              <a:rPr lang="en-US" sz="16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pozitíva</a:t>
            </a:r>
            <a:r>
              <a:rPr lang="en-US" sz="1600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 (FP)  —  Safe → Phishing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Firemné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notifikácie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s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frázami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zdielanými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s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phishingom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Výrazy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: click here to verify, your account, update...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LIME: model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priradil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vysoké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váhy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korporátnym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slovám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CCCCCC"/>
                </a:solidFill>
                <a:effectLst/>
                <a:uFillTx/>
                <a:latin typeface="Actor"/>
              </a:rPr>
              <a:t>TF-IDF top-20: click here, verify account, update</a:t>
            </a:r>
            <a:endParaRPr lang="en-US" sz="1400" b="0" u="none" strike="noStrike" dirty="0">
              <a:solidFill>
                <a:srgbClr val="CCCCCC"/>
              </a:solidFill>
              <a:effectLst/>
              <a:uFillTx/>
              <a:latin typeface="Actor"/>
            </a:endParaRPr>
          </a:p>
        </p:txBody>
      </p:sp>
      <p:sp>
        <p:nvSpPr>
          <p:cNvPr id="102" name="FN"/>
          <p:cNvSpPr/>
          <p:nvPr/>
        </p:nvSpPr>
        <p:spPr>
          <a:xfrm>
            <a:off x="4750000" y="1050000"/>
            <a:ext cx="4200000" cy="3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rmAutofit/>
          </a:bodyPr>
          <a:lstStyle/>
          <a:p>
            <a:pPr defTabSz="457200">
              <a:lnSpc>
                <a:spcPct val="120000"/>
              </a:lnSpc>
              <a:buNone/>
            </a:pPr>
            <a:r>
              <a:rPr lang="en-US" sz="1600" b="1" u="none" strike="noStrike" dirty="0" err="1">
                <a:solidFill>
                  <a:srgbClr val="F08080"/>
                </a:solidFill>
                <a:effectLst/>
                <a:uFillTx/>
                <a:latin typeface="Actor"/>
              </a:rPr>
              <a:t>Falošné</a:t>
            </a:r>
            <a:r>
              <a:rPr lang="en-US" sz="1600" b="1" u="none" strike="noStrike" dirty="0">
                <a:solidFill>
                  <a:srgbClr val="F08080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 dirty="0" err="1">
                <a:solidFill>
                  <a:srgbClr val="F08080"/>
                </a:solidFill>
                <a:effectLst/>
                <a:uFillTx/>
                <a:latin typeface="Actor"/>
              </a:rPr>
              <a:t>negatíva</a:t>
            </a:r>
            <a:r>
              <a:rPr lang="en-US" sz="1600" b="1" u="none" strike="noStrike" dirty="0">
                <a:solidFill>
                  <a:srgbClr val="F08080"/>
                </a:solidFill>
                <a:effectLst/>
                <a:uFillTx/>
                <a:latin typeface="Actor"/>
              </a:rPr>
              <a:t> (FN)  —  Phishing → Safe  ⚠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Sofistikované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phishingy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bez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typických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indikátorov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Formálny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dôveryhodný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jazyk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— model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ignoroval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hrozbu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LIME: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neutrálne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slová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(dear, customer)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dostali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vysokú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váhu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CCCCCC"/>
                </a:solidFill>
                <a:effectLst/>
                <a:uFillTx/>
                <a:latin typeface="Actor"/>
              </a:rPr>
              <a:t>TF-IDF top-20: account update, security notice</a:t>
            </a:r>
          </a:p>
        </p:txBody>
      </p:sp>
      <p:sp>
        <p:nvSpPr>
          <p:cNvPr id="103" name="LIME note"/>
          <p:cNvSpPr/>
          <p:nvPr/>
        </p:nvSpPr>
        <p:spPr>
          <a:xfrm>
            <a:off x="619200" y="4450000"/>
            <a:ext cx="8400000" cy="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rmAutofit/>
          </a:bodyPr>
          <a:lstStyle/>
          <a:p>
            <a:pPr defTabSz="457200">
              <a:lnSpc>
                <a:spcPct val="120000"/>
              </a:lnSpc>
              <a:buNone/>
            </a:pPr>
            <a:r>
              <a:rPr lang="en-US" sz="900" b="0" i="1" u="none" strike="noStrike">
                <a:solidFill>
                  <a:srgbClr val="CCCCCC"/>
                </a:solidFill>
                <a:effectLst/>
                <a:uFillTx/>
                <a:latin typeface="Actor"/>
              </a:rPr>
              <a:t>Agregované LIME váhy: 10 FN + 10 FP vzoriek · num_samples=500 · num_features=15  |  TF-IDF bigrams (1,2)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"/>
          <p:cNvSpPr/>
          <p:nvPr/>
        </p:nvSpPr>
        <p:spPr>
          <a:xfrm>
            <a:off x="619200" y="380000"/>
            <a:ext cx="8200000" cy="5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anchor="b">
            <a:normAutofit fontScale="92500" lnSpcReduction="1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Záver</a:t>
            </a:r>
            <a:r>
              <a:rPr lang="en-US" sz="28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&amp; </a:t>
            </a:r>
            <a:r>
              <a:rPr lang="en-US" sz="28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Ďalšia</a:t>
            </a:r>
            <a:r>
              <a:rPr lang="en-US" sz="28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 </a:t>
            </a:r>
            <a:r>
              <a:rPr lang="en-US" sz="2800" b="1" u="none" strike="noStrike" dirty="0" err="1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</a:rPr>
              <a:t>práca</a:t>
            </a:r>
            <a:endParaRPr lang="en-US" sz="2800" b="1" u="none" strike="noStrike" dirty="0">
              <a:solidFill>
                <a:schemeClr val="lt1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111" name="Content"/>
          <p:cNvSpPr/>
          <p:nvPr/>
        </p:nvSpPr>
        <p:spPr>
          <a:xfrm>
            <a:off x="619200" y="1030000"/>
            <a:ext cx="8400000" cy="4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>
            <a:normAutofit/>
          </a:bodyPr>
          <a:lstStyle/>
          <a:p>
            <a:pPr defTabSz="457200">
              <a:lnSpc>
                <a:spcPct val="120000"/>
              </a:lnSpc>
              <a:buNone/>
            </a:pPr>
            <a:r>
              <a:rPr lang="en-US" b="1" u="none" strike="noStrike" dirty="0">
                <a:solidFill>
                  <a:srgbClr val="9B6DFF"/>
                </a:solidFill>
                <a:effectLst/>
                <a:uFillTx/>
                <a:latin typeface="Actor"/>
              </a:rPr>
              <a:t>Zhrnutie </a:t>
            </a:r>
            <a:r>
              <a:rPr lang="en-US" b="1" u="none" strike="noStrike" dirty="0" err="1">
                <a:solidFill>
                  <a:srgbClr val="9B6DFF"/>
                </a:solidFill>
                <a:effectLst/>
                <a:uFillTx/>
                <a:latin typeface="Actor"/>
              </a:rPr>
              <a:t>výsledkov</a:t>
            </a:r>
            <a:endParaRPr lang="en-US" b="1" u="none" strike="noStrike" dirty="0">
              <a:solidFill>
                <a:srgbClr val="9B6D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CySecBERT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prekonáva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BERT-base-uncased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vo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všetkých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metrikách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(+1.02 pp F1, +0.09 pp ROC-AUC)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Doménová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predtrénovacia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fáza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kybernetických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textoch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je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kľúčová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výhoda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Modely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sú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robustné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—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overené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externom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datasete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(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model_test.ipynb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)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LIME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odhalil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kľúčové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výrazy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zodpovedné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za FP a FN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chyby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None/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None/>
            </a:pPr>
            <a:r>
              <a:rPr lang="en-US" b="1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Možnosti </a:t>
            </a:r>
            <a:r>
              <a:rPr lang="en-US" b="1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ďalšej</a:t>
            </a:r>
            <a:r>
              <a:rPr lang="en-US" b="1" u="none" strike="noStrike" dirty="0">
                <a:solidFill>
                  <a:srgbClr val="7EC8E3"/>
                </a:solidFill>
                <a:effectLst/>
                <a:uFillTx/>
                <a:latin typeface="Actor"/>
              </a:rPr>
              <a:t> </a:t>
            </a:r>
            <a:r>
              <a:rPr lang="en-US" b="1" u="none" strike="noStrike" dirty="0" err="1">
                <a:solidFill>
                  <a:srgbClr val="7EC8E3"/>
                </a:solidFill>
                <a:effectLst/>
                <a:uFillTx/>
                <a:latin typeface="Actor"/>
              </a:rPr>
              <a:t>práce</a:t>
            </a:r>
            <a:endParaRPr lang="en-US" b="1" u="none" strike="noStrike" dirty="0">
              <a:solidFill>
                <a:srgbClr val="7EC8E3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Dlhšie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okno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kontextu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: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Longformer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/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RoBERTa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(512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tokenov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)</a:t>
            </a: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Integrácia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e-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mailových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hlavičiek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: SPF, DKIM, URL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analýza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Multijazyčná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detekcia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phishingu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  <a:p>
            <a:pPr defTabSz="457200">
              <a:lnSpc>
                <a:spcPct val="120000"/>
              </a:lnSpc>
              <a:buFont typeface="Arial"/>
              <a:buChar char="•"/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Nasadenie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do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reálneho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phishing filter pipeline s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kontinuálnym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učením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cto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224180" y="598451"/>
            <a:ext cx="6695640" cy="17235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  <a:ea typeface="Unbounded"/>
              </a:rPr>
              <a:t>Ďakujeme za pozornos</a:t>
            </a:r>
            <a:r>
              <a:rPr lang="sk-SK" sz="50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  <a:ea typeface="Unbounded"/>
              </a:rPr>
              <a:t>ť</a:t>
            </a:r>
            <a:r>
              <a:rPr lang="en" sz="5000" b="1" u="none" strike="noStrike" dirty="0">
                <a:solidFill>
                  <a:schemeClr val="lt1"/>
                </a:solidFill>
                <a:effectLst/>
                <a:uFillTx/>
                <a:latin typeface="Amasis MT Pro Black" panose="02040A04050005020304" pitchFamily="18" charset="-18"/>
                <a:ea typeface="Unbounded"/>
              </a:rPr>
              <a:t>!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Amasis MT Pro Black" panose="02040A04050005020304" pitchFamily="18" charset="-18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2348100" y="2255760"/>
            <a:ext cx="4447800" cy="122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1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MÁTE NEJAKÉ OTÁZKY?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Detekcia phishingových e-mailov pomocou CySecBERT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Dataset: zefang-liu/phishing-email-dataset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markusbayer/CySecBERT  ·  Hugging Face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1023;p69"/>
          <p:cNvSpPr/>
          <p:nvPr/>
        </p:nvSpPr>
        <p:spPr>
          <a:xfrm>
            <a:off x="2495520" y="421956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-3218040" rIns="870823080" bIns="-321804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4" name="Google Shape;1024;p69"/>
          <p:cNvGrpSpPr/>
          <p:nvPr/>
        </p:nvGrpSpPr>
        <p:grpSpPr>
          <a:xfrm>
            <a:off x="7566840" y="3891240"/>
            <a:ext cx="1159560" cy="793080"/>
            <a:chOff x="7566840" y="3891240"/>
            <a:chExt cx="1159560" cy="793080"/>
          </a:xfrm>
        </p:grpSpPr>
        <p:cxnSp>
          <p:nvCxnSpPr>
            <p:cNvPr id="95" name="Google Shape;1025;p69"/>
            <p:cNvCxnSpPr/>
            <p:nvPr/>
          </p:nvCxnSpPr>
          <p:spPr>
            <a:xfrm>
              <a:off x="7566840" y="400752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96" name="Google Shape;1026;p69"/>
            <p:cNvCxnSpPr/>
            <p:nvPr/>
          </p:nvCxnSpPr>
          <p:spPr>
            <a:xfrm>
              <a:off x="7576560" y="4019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97" name="Google Shape;1027;p69"/>
            <p:cNvCxnSpPr/>
            <p:nvPr/>
          </p:nvCxnSpPr>
          <p:spPr>
            <a:xfrm flipV="1">
              <a:off x="7582320" y="389124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745</Words>
  <Application>Microsoft Office PowerPoint</Application>
  <PresentationFormat>Prezentácia na obrazovke (16:9)</PresentationFormat>
  <Paragraphs>136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7</vt:i4>
      </vt:variant>
      <vt:variant>
        <vt:lpstr>Motív</vt:lpstr>
      </vt:variant>
      <vt:variant>
        <vt:i4>3</vt:i4>
      </vt:variant>
      <vt:variant>
        <vt:lpstr>Nadpisy snímok</vt:lpstr>
      </vt:variant>
      <vt:variant>
        <vt:i4>12</vt:i4>
      </vt:variant>
    </vt:vector>
  </HeadingPairs>
  <TitlesOfParts>
    <vt:vector size="22" baseType="lpstr">
      <vt:lpstr>Actor</vt:lpstr>
      <vt:lpstr>Amasis MT Pro Black</vt:lpstr>
      <vt:lpstr>Arial</vt:lpstr>
      <vt:lpstr>OpenSymbol</vt:lpstr>
      <vt:lpstr>Symbol</vt:lpstr>
      <vt:lpstr>Unbounded</vt:lpstr>
      <vt:lpstr>Wingdings</vt:lpstr>
      <vt:lpstr>My Presentation Template</vt:lpstr>
      <vt:lpstr>My Presentation Template</vt:lpstr>
      <vt:lpstr>My Presentation Template</vt:lpstr>
      <vt:lpstr>Detekcia phishingových  e-mailov pomocou CySecBERT</vt:lpstr>
      <vt:lpstr>Formulácia </vt:lpstr>
      <vt:lpstr>Prezentácia programu PowerPoint</vt:lpstr>
      <vt:lpstr>Prezentácia programu PowerPoint</vt:lpstr>
      <vt:lpstr>Prezentácia programu PowerPoint</vt:lpstr>
      <vt:lpstr>Porovnanie modelov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Ďakujeme za pozornosť!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Adike Polak</dc:creator>
  <cp:lastModifiedBy>Hugo Juraj Bulinský</cp:lastModifiedBy>
  <cp:revision>9</cp:revision>
  <dcterms:modified xsi:type="dcterms:W3CDTF">2026-04-23T11:26:05Z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2026-04-22T18:47:51Z</dcterms:created>
  <dc:creator>Unknown Creator</dc:creator>
  <dc:description/>
  <dc:language>en-US</dc:language>
  <cp:lastModifiedBy>Unknown Creator</cp:lastModifiedBy>
  <dcterms:modified xsi:type="dcterms:W3CDTF">2026-04-22T18:47:51Z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